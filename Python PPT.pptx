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 2 Bold" charset="1" panose="00000000000000000000"/>
      <p:regular r:id="rId16"/>
    </p:embeddedFont>
    <p:embeddedFont>
      <p:font typeface="Open Sans 1 Bold" charset="1" panose="020B0806030504020204"/>
      <p:regular r:id="rId17"/>
    </p:embeddedFont>
    <p:embeddedFont>
      <p:font typeface="Maragsa" charset="1" panose="00000000000000000000"/>
      <p:regular r:id="rId18"/>
    </p:embeddedFont>
    <p:embeddedFont>
      <p:font typeface="Harmattan" charset="1" panose="0100050300000002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6146964" y="-498648"/>
            <a:ext cx="1319473" cy="2681401"/>
          </a:xfrm>
          <a:custGeom>
            <a:avLst/>
            <a:gdLst/>
            <a:ahLst/>
            <a:cxnLst/>
            <a:rect r="r" b="b" t="t" l="l"/>
            <a:pathLst>
              <a:path h="2681401" w="1319473">
                <a:moveTo>
                  <a:pt x="0" y="0"/>
                </a:moveTo>
                <a:lnTo>
                  <a:pt x="1319473" y="0"/>
                </a:lnTo>
                <a:lnTo>
                  <a:pt x="1319473" y="2681402"/>
                </a:lnTo>
                <a:lnTo>
                  <a:pt x="0" y="2681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897069" y="8143055"/>
            <a:ext cx="1275023" cy="2591071"/>
          </a:xfrm>
          <a:custGeom>
            <a:avLst/>
            <a:gdLst/>
            <a:ahLst/>
            <a:cxnLst/>
            <a:rect r="r" b="b" t="t" l="l"/>
            <a:pathLst>
              <a:path h="2591071" w="1275023">
                <a:moveTo>
                  <a:pt x="1275023" y="2591071"/>
                </a:moveTo>
                <a:lnTo>
                  <a:pt x="0" y="2591071"/>
                </a:lnTo>
                <a:lnTo>
                  <a:pt x="0" y="0"/>
                </a:lnTo>
                <a:lnTo>
                  <a:pt x="1275023" y="0"/>
                </a:lnTo>
                <a:lnTo>
                  <a:pt x="1275023" y="2591071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55237" y="4373200"/>
            <a:ext cx="3880399" cy="3432536"/>
          </a:xfrm>
          <a:custGeom>
            <a:avLst/>
            <a:gdLst/>
            <a:ahLst/>
            <a:cxnLst/>
            <a:rect r="r" b="b" t="t" l="l"/>
            <a:pathLst>
              <a:path h="3432536" w="3880399">
                <a:moveTo>
                  <a:pt x="0" y="0"/>
                </a:moveTo>
                <a:lnTo>
                  <a:pt x="3880399" y="0"/>
                </a:lnTo>
                <a:lnTo>
                  <a:pt x="3880399" y="3432536"/>
                </a:lnTo>
                <a:lnTo>
                  <a:pt x="0" y="3432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484715" y="2894750"/>
            <a:ext cx="4129126" cy="3652556"/>
          </a:xfrm>
          <a:custGeom>
            <a:avLst/>
            <a:gdLst/>
            <a:ahLst/>
            <a:cxnLst/>
            <a:rect r="r" b="b" t="t" l="l"/>
            <a:pathLst>
              <a:path h="3652556" w="4129126">
                <a:moveTo>
                  <a:pt x="4129126" y="3652556"/>
                </a:moveTo>
                <a:lnTo>
                  <a:pt x="0" y="3652556"/>
                </a:lnTo>
                <a:lnTo>
                  <a:pt x="0" y="0"/>
                </a:lnTo>
                <a:lnTo>
                  <a:pt x="4129126" y="0"/>
                </a:lnTo>
                <a:lnTo>
                  <a:pt x="4129126" y="3652556"/>
                </a:lnTo>
                <a:close/>
              </a:path>
            </a:pathLst>
          </a:custGeom>
          <a:blipFill>
            <a:blip r:embed="rId4">
              <a:alphaModFix amt="6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9045" y="1532463"/>
            <a:ext cx="17708443" cy="330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5477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VEER SURENDRA SAI  UNIVERSITY OF TECHNOLOGY</a:t>
            </a:r>
          </a:p>
          <a:p>
            <a:pPr algn="ctr">
              <a:lnSpc>
                <a:spcPts val="5142"/>
              </a:lnSpc>
            </a:pPr>
          </a:p>
          <a:p>
            <a:pPr algn="ctr">
              <a:lnSpc>
                <a:spcPts val="4697"/>
              </a:lnSpc>
            </a:pPr>
            <a:r>
              <a:rPr lang="en-US" b="true" sz="5277">
                <a:solidFill>
                  <a:srgbClr val="697D7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DEPARTMENT OF MECHANICAL ENGINEERING</a:t>
            </a:r>
          </a:p>
          <a:p>
            <a:pPr algn="ctr">
              <a:lnSpc>
                <a:spcPts val="5495"/>
              </a:lnSpc>
            </a:pPr>
          </a:p>
          <a:p>
            <a:pPr algn="ctr">
              <a:lnSpc>
                <a:spcPts val="549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056397" y="3099662"/>
            <a:ext cx="4175206" cy="4339765"/>
          </a:xfrm>
          <a:custGeom>
            <a:avLst/>
            <a:gdLst/>
            <a:ahLst/>
            <a:cxnLst/>
            <a:rect r="r" b="b" t="t" l="l"/>
            <a:pathLst>
              <a:path h="4339765" w="4175206">
                <a:moveTo>
                  <a:pt x="0" y="0"/>
                </a:moveTo>
                <a:lnTo>
                  <a:pt x="4175206" y="0"/>
                </a:lnTo>
                <a:lnTo>
                  <a:pt x="4175206" y="4339765"/>
                </a:lnTo>
                <a:lnTo>
                  <a:pt x="0" y="4339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70" t="0" r="-197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80361" y="6948360"/>
            <a:ext cx="15727278" cy="185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0"/>
              </a:lnSpc>
              <a:spcBef>
                <a:spcPct val="0"/>
              </a:spcBef>
            </a:pPr>
            <a:r>
              <a:rPr lang="en-US" b="true" sz="532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BEAM DEFLECTION ANALYSIS USING PYTHON (MATPLOTLIB &amp; SCIPY)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50924" y="8734404"/>
            <a:ext cx="6986153" cy="114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Submitted by: Saayanpratit Dash </a:t>
            </a:r>
          </a:p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Regd. No: 2402090111 Sec: 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451440" y="2306380"/>
            <a:ext cx="4162401" cy="3681990"/>
          </a:xfrm>
          <a:custGeom>
            <a:avLst/>
            <a:gdLst/>
            <a:ahLst/>
            <a:cxnLst/>
            <a:rect r="r" b="b" t="t" l="l"/>
            <a:pathLst>
              <a:path h="3681990" w="4162401">
                <a:moveTo>
                  <a:pt x="4162401" y="3681991"/>
                </a:moveTo>
                <a:lnTo>
                  <a:pt x="0" y="3681991"/>
                </a:lnTo>
                <a:lnTo>
                  <a:pt x="0" y="0"/>
                </a:lnTo>
                <a:lnTo>
                  <a:pt x="4162401" y="0"/>
                </a:lnTo>
                <a:lnTo>
                  <a:pt x="4162401" y="3681991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04338" y="604183"/>
            <a:ext cx="10079325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5"/>
              </a:lnSpc>
            </a:pPr>
            <a:r>
              <a:rPr lang="en-US" sz="7496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79187"/>
            <a:ext cx="15422740" cy="747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Manual b</a:t>
            </a: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eam deflection calculations are time-consuming and error-prone.​</a:t>
            </a:r>
          </a:p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Need for an accurate, efficient computational model for beam analysis.</a:t>
            </a:r>
          </a:p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Project applies Python, Matplotlib, and SciPy for structural analysis using Euler–Bernoulli theory.</a:t>
            </a:r>
          </a:p>
          <a:p>
            <a:pPr algn="l">
              <a:lnSpc>
                <a:spcPts val="852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177639" cy="3695470"/>
          </a:xfrm>
          <a:custGeom>
            <a:avLst/>
            <a:gdLst/>
            <a:ahLst/>
            <a:cxnLst/>
            <a:rect r="r" b="b" t="t" l="l"/>
            <a:pathLst>
              <a:path h="3695470" w="4177639">
                <a:moveTo>
                  <a:pt x="0" y="0"/>
                </a:moveTo>
                <a:lnTo>
                  <a:pt x="4177639" y="0"/>
                </a:lnTo>
                <a:lnTo>
                  <a:pt x="4177639" y="3695469"/>
                </a:lnTo>
                <a:lnTo>
                  <a:pt x="0" y="3695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756678" y="2089976"/>
            <a:ext cx="3857163" cy="3411982"/>
          </a:xfrm>
          <a:custGeom>
            <a:avLst/>
            <a:gdLst/>
            <a:ahLst/>
            <a:cxnLst/>
            <a:rect r="r" b="b" t="t" l="l"/>
            <a:pathLst>
              <a:path h="3411982" w="3857163">
                <a:moveTo>
                  <a:pt x="3857163" y="3411982"/>
                </a:moveTo>
                <a:lnTo>
                  <a:pt x="0" y="3411982"/>
                </a:lnTo>
                <a:lnTo>
                  <a:pt x="0" y="0"/>
                </a:lnTo>
                <a:lnTo>
                  <a:pt x="3857163" y="0"/>
                </a:lnTo>
                <a:lnTo>
                  <a:pt x="3857163" y="3411982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04338" y="604183"/>
            <a:ext cx="10079325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5"/>
              </a:lnSpc>
            </a:pPr>
            <a:r>
              <a:rPr lang="en-US" sz="7496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357" y="1600082"/>
            <a:ext cx="16473243" cy="854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Model b</a:t>
            </a: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ending moment and curvature for beams.​</a:t>
            </a:r>
          </a:p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Numerically integrate curvature to find slope and deflection.</a:t>
            </a:r>
          </a:p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Apply boundary conditions for simply supported and cantilever beams.</a:t>
            </a:r>
          </a:p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Visualize supports, load position, and deflection with plots.</a:t>
            </a:r>
          </a:p>
          <a:p>
            <a:pPr algn="l" marL="1218876" indent="-609438" lvl="1">
              <a:lnSpc>
                <a:spcPts val="8524"/>
              </a:lnSpc>
              <a:buFont typeface="Arial"/>
              <a:buChar char="•"/>
            </a:pPr>
            <a:r>
              <a:rPr lang="en-US" sz="56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Provide location and value of maximum deflection for design validation</a:t>
            </a:r>
          </a:p>
          <a:p>
            <a:pPr algn="l">
              <a:lnSpc>
                <a:spcPts val="852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242156" y="7892094"/>
            <a:ext cx="1579662" cy="3210150"/>
          </a:xfrm>
          <a:custGeom>
            <a:avLst/>
            <a:gdLst/>
            <a:ahLst/>
            <a:cxnLst/>
            <a:rect r="r" b="b" t="t" l="l"/>
            <a:pathLst>
              <a:path h="3210150" w="1579662">
                <a:moveTo>
                  <a:pt x="1579662" y="3210150"/>
                </a:moveTo>
                <a:lnTo>
                  <a:pt x="0" y="3210150"/>
                </a:lnTo>
                <a:lnTo>
                  <a:pt x="0" y="0"/>
                </a:lnTo>
                <a:lnTo>
                  <a:pt x="1579662" y="0"/>
                </a:lnTo>
                <a:lnTo>
                  <a:pt x="1579662" y="321015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632918"/>
            <a:ext cx="4102787" cy="3629257"/>
          </a:xfrm>
          <a:custGeom>
            <a:avLst/>
            <a:gdLst/>
            <a:ahLst/>
            <a:cxnLst/>
            <a:rect r="r" b="b" t="t" l="l"/>
            <a:pathLst>
              <a:path h="3629257" w="4102787">
                <a:moveTo>
                  <a:pt x="0" y="0"/>
                </a:moveTo>
                <a:lnTo>
                  <a:pt x="4102787" y="0"/>
                </a:lnTo>
                <a:lnTo>
                  <a:pt x="4102787" y="3629258"/>
                </a:lnTo>
                <a:lnTo>
                  <a:pt x="0" y="362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04338" y="604183"/>
            <a:ext cx="10079325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5"/>
              </a:lnSpc>
            </a:pPr>
            <a:r>
              <a:rPr lang="en-US" sz="7496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WORKFLOW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9439" y="1584475"/>
            <a:ext cx="14702720" cy="962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8693" indent="-609347" lvl="1">
              <a:lnSpc>
                <a:spcPts val="8523"/>
              </a:lnSpc>
              <a:buFont typeface="Arial"/>
              <a:buChar char="•"/>
            </a:pP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I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nput b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eam parameters: length (L), load (P), Young's modulus (E), moment of inertia (I), load position, and beam type (simply supported or cantilever).</a:t>
            </a:r>
          </a:p>
          <a:p>
            <a:pPr algn="l" marL="1218693" indent="-609347" lvl="1">
              <a:lnSpc>
                <a:spcPts val="8523"/>
              </a:lnSpc>
              <a:buFont typeface="Arial"/>
              <a:buChar char="•"/>
            </a:pP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Compute bending moment M(x) using piecewise formulas.</a:t>
            </a:r>
          </a:p>
          <a:p>
            <a:pPr algn="l" marL="1218693" indent="-609347" lvl="1">
              <a:lnSpc>
                <a:spcPts val="8523"/>
              </a:lnSpc>
              <a:buFont typeface="Arial"/>
              <a:buChar char="•"/>
            </a:pP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Calculate curvature y′′(x)=M(x), EI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y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′′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(x)=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I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(x).</a:t>
            </a:r>
          </a:p>
          <a:p>
            <a:pPr algn="l" marL="1218693" indent="-609347" lvl="1">
              <a:lnSpc>
                <a:spcPts val="8523"/>
              </a:lnSpc>
              <a:buFont typeface="Arial"/>
              <a:buChar char="•"/>
            </a:pP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Numerically integrate curvature twice to get slope y′(x)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y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′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(x) and deflection y(x)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y</a:t>
            </a:r>
            <a:r>
              <a:rPr lang="en-US" sz="5644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(x).</a:t>
            </a:r>
          </a:p>
          <a:p>
            <a:pPr algn="l">
              <a:lnSpc>
                <a:spcPts val="852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242156" y="7892094"/>
            <a:ext cx="1579662" cy="3210150"/>
          </a:xfrm>
          <a:custGeom>
            <a:avLst/>
            <a:gdLst/>
            <a:ahLst/>
            <a:cxnLst/>
            <a:rect r="r" b="b" t="t" l="l"/>
            <a:pathLst>
              <a:path h="3210150" w="1579662">
                <a:moveTo>
                  <a:pt x="1579662" y="3210150"/>
                </a:moveTo>
                <a:lnTo>
                  <a:pt x="0" y="3210150"/>
                </a:lnTo>
                <a:lnTo>
                  <a:pt x="0" y="0"/>
                </a:lnTo>
                <a:lnTo>
                  <a:pt x="1579662" y="0"/>
                </a:lnTo>
                <a:lnTo>
                  <a:pt x="1579662" y="321015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632918"/>
            <a:ext cx="4102787" cy="3629257"/>
          </a:xfrm>
          <a:custGeom>
            <a:avLst/>
            <a:gdLst/>
            <a:ahLst/>
            <a:cxnLst/>
            <a:rect r="r" b="b" t="t" l="l"/>
            <a:pathLst>
              <a:path h="3629257" w="4102787">
                <a:moveTo>
                  <a:pt x="0" y="0"/>
                </a:moveTo>
                <a:lnTo>
                  <a:pt x="4102787" y="0"/>
                </a:lnTo>
                <a:lnTo>
                  <a:pt x="4102787" y="3629258"/>
                </a:lnTo>
                <a:lnTo>
                  <a:pt x="0" y="362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550708" y="2610596"/>
            <a:ext cx="4063133" cy="3594179"/>
          </a:xfrm>
          <a:custGeom>
            <a:avLst/>
            <a:gdLst/>
            <a:ahLst/>
            <a:cxnLst/>
            <a:rect r="r" b="b" t="t" l="l"/>
            <a:pathLst>
              <a:path h="3594179" w="4063133">
                <a:moveTo>
                  <a:pt x="4063133" y="3594180"/>
                </a:moveTo>
                <a:lnTo>
                  <a:pt x="0" y="3594180"/>
                </a:lnTo>
                <a:lnTo>
                  <a:pt x="0" y="0"/>
                </a:lnTo>
                <a:lnTo>
                  <a:pt x="4063133" y="0"/>
                </a:lnTo>
                <a:lnTo>
                  <a:pt x="4063133" y="359418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04338" y="604183"/>
            <a:ext cx="10079325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5"/>
              </a:lnSpc>
            </a:pPr>
            <a:r>
              <a:rPr lang="en-US" sz="7496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WORKFLOW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325" y="1936337"/>
            <a:ext cx="15709383" cy="496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19834" indent="-609917" lvl="1">
              <a:lnSpc>
                <a:spcPts val="7909"/>
              </a:lnSpc>
              <a:buFont typeface="Arial"/>
              <a:buChar char="•"/>
            </a:pP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Apply boundary conditions: for simply supported, y(0)=0, y(L)=0; for cantilever, y(0)=0, y′(0)=0 </a:t>
            </a:r>
          </a:p>
          <a:p>
            <a:pPr algn="just" marL="1219834" indent="-609917" lvl="1">
              <a:lnSpc>
                <a:spcPts val="7909"/>
              </a:lnSpc>
              <a:buFont typeface="Arial"/>
              <a:buChar char="•"/>
            </a:pP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Plot deflected shape, supports, load position, and max deflection using Matplotlib. </a:t>
            </a:r>
          </a:p>
          <a:p>
            <a:pPr algn="just" marL="1219834" indent="-609917" lvl="1">
              <a:lnSpc>
                <a:spcPts val="7909"/>
              </a:lnSpc>
              <a:buFont typeface="Arial"/>
              <a:buChar char="•"/>
            </a:pP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Output max deflection value and location.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5517" y="1405354"/>
            <a:ext cx="7708162" cy="8244004"/>
          </a:xfrm>
          <a:custGeom>
            <a:avLst/>
            <a:gdLst/>
            <a:ahLst/>
            <a:cxnLst/>
            <a:rect r="r" b="b" t="t" l="l"/>
            <a:pathLst>
              <a:path h="8244004" w="7708162">
                <a:moveTo>
                  <a:pt x="0" y="0"/>
                </a:moveTo>
                <a:lnTo>
                  <a:pt x="7708162" y="0"/>
                </a:lnTo>
                <a:lnTo>
                  <a:pt x="7708162" y="8244004"/>
                </a:lnTo>
                <a:lnTo>
                  <a:pt x="0" y="82440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05" r="-3120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43589" y="1872612"/>
            <a:ext cx="8003517" cy="6014913"/>
          </a:xfrm>
          <a:custGeom>
            <a:avLst/>
            <a:gdLst/>
            <a:ahLst/>
            <a:cxnLst/>
            <a:rect r="r" b="b" t="t" l="l"/>
            <a:pathLst>
              <a:path h="6014913" w="8003517">
                <a:moveTo>
                  <a:pt x="0" y="0"/>
                </a:moveTo>
                <a:lnTo>
                  <a:pt x="8003517" y="0"/>
                </a:lnTo>
                <a:lnTo>
                  <a:pt x="8003517" y="6014913"/>
                </a:lnTo>
                <a:lnTo>
                  <a:pt x="0" y="60149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44167" y="9601733"/>
            <a:ext cx="3941266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3"/>
              </a:lnSpc>
              <a:spcBef>
                <a:spcPct val="0"/>
              </a:spcBef>
            </a:pPr>
            <a:r>
              <a:rPr lang="en-US" b="true" sz="249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USER INPUT &amp; FUNCTION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7226" y="7839900"/>
            <a:ext cx="42362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CALCULATION &amp; PLOTTING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9598" y="317969"/>
            <a:ext cx="10079325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5"/>
              </a:lnSpc>
            </a:pPr>
            <a:r>
              <a:rPr lang="en-US" sz="7496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PYTHON CODE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2972" y="234100"/>
            <a:ext cx="11301259" cy="5438731"/>
          </a:xfrm>
          <a:custGeom>
            <a:avLst/>
            <a:gdLst/>
            <a:ahLst/>
            <a:cxnLst/>
            <a:rect r="r" b="b" t="t" l="l"/>
            <a:pathLst>
              <a:path h="5438731" w="11301259">
                <a:moveTo>
                  <a:pt x="0" y="0"/>
                </a:moveTo>
                <a:lnTo>
                  <a:pt x="11301259" y="0"/>
                </a:lnTo>
                <a:lnTo>
                  <a:pt x="11301259" y="5438731"/>
                </a:lnTo>
                <a:lnTo>
                  <a:pt x="0" y="54387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2972" y="6349410"/>
            <a:ext cx="10524562" cy="2758433"/>
          </a:xfrm>
          <a:custGeom>
            <a:avLst/>
            <a:gdLst/>
            <a:ahLst/>
            <a:cxnLst/>
            <a:rect r="r" b="b" t="t" l="l"/>
            <a:pathLst>
              <a:path h="2758433" w="10524562">
                <a:moveTo>
                  <a:pt x="0" y="0"/>
                </a:moveTo>
                <a:lnTo>
                  <a:pt x="10524562" y="0"/>
                </a:lnTo>
                <a:lnTo>
                  <a:pt x="10524562" y="2758433"/>
                </a:lnTo>
                <a:lnTo>
                  <a:pt x="0" y="2758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41" r="0" b="-124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49171" y="5625206"/>
            <a:ext cx="159216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PLOTTING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95395" y="9226963"/>
            <a:ext cx="129971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179927" y="7709288"/>
            <a:ext cx="1700239" cy="3455185"/>
          </a:xfrm>
          <a:custGeom>
            <a:avLst/>
            <a:gdLst/>
            <a:ahLst/>
            <a:cxnLst/>
            <a:rect r="r" b="b" t="t" l="l"/>
            <a:pathLst>
              <a:path h="3455185" w="1700239">
                <a:moveTo>
                  <a:pt x="1700239" y="3455185"/>
                </a:moveTo>
                <a:lnTo>
                  <a:pt x="0" y="3455185"/>
                </a:lnTo>
                <a:lnTo>
                  <a:pt x="0" y="0"/>
                </a:lnTo>
                <a:lnTo>
                  <a:pt x="1700239" y="0"/>
                </a:lnTo>
                <a:lnTo>
                  <a:pt x="1700239" y="3455185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57400" y="5035541"/>
            <a:ext cx="3455185" cy="3056399"/>
          </a:xfrm>
          <a:custGeom>
            <a:avLst/>
            <a:gdLst/>
            <a:ahLst/>
            <a:cxnLst/>
            <a:rect r="r" b="b" t="t" l="l"/>
            <a:pathLst>
              <a:path h="3056399" w="3455185">
                <a:moveTo>
                  <a:pt x="0" y="0"/>
                </a:moveTo>
                <a:lnTo>
                  <a:pt x="3455185" y="0"/>
                </a:lnTo>
                <a:lnTo>
                  <a:pt x="3455185" y="3056399"/>
                </a:lnTo>
                <a:lnTo>
                  <a:pt x="0" y="3056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31687" y="1638463"/>
            <a:ext cx="6166227" cy="7667381"/>
            <a:chOff x="0" y="0"/>
            <a:chExt cx="8221636" cy="102231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645" y="0"/>
              <a:ext cx="8214991" cy="1982990"/>
            </a:xfrm>
            <a:custGeom>
              <a:avLst/>
              <a:gdLst/>
              <a:ahLst/>
              <a:cxnLst/>
              <a:rect r="r" b="b" t="t" l="l"/>
              <a:pathLst>
                <a:path h="1982990" w="8214991">
                  <a:moveTo>
                    <a:pt x="0" y="0"/>
                  </a:moveTo>
                  <a:lnTo>
                    <a:pt x="8214991" y="0"/>
                  </a:lnTo>
                  <a:lnTo>
                    <a:pt x="8214991" y="1982990"/>
                  </a:lnTo>
                  <a:lnTo>
                    <a:pt x="0" y="1982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535141"/>
              <a:ext cx="8214991" cy="880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User Input a Parameter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6645" y="2732290"/>
              <a:ext cx="8214991" cy="1982990"/>
            </a:xfrm>
            <a:custGeom>
              <a:avLst/>
              <a:gdLst/>
              <a:ahLst/>
              <a:cxnLst/>
              <a:rect r="r" b="b" t="t" l="l"/>
              <a:pathLst>
                <a:path h="1982990" w="8214991">
                  <a:moveTo>
                    <a:pt x="0" y="0"/>
                  </a:moveTo>
                  <a:lnTo>
                    <a:pt x="8214991" y="0"/>
                  </a:lnTo>
                  <a:lnTo>
                    <a:pt x="8214991" y="1982990"/>
                  </a:lnTo>
                  <a:lnTo>
                    <a:pt x="0" y="1982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3267431"/>
              <a:ext cx="8214991" cy="880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Deflection Computed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6645" y="5508065"/>
              <a:ext cx="8214991" cy="1982990"/>
            </a:xfrm>
            <a:custGeom>
              <a:avLst/>
              <a:gdLst/>
              <a:ahLst/>
              <a:cxnLst/>
              <a:rect r="r" b="b" t="t" l="l"/>
              <a:pathLst>
                <a:path h="1982990" w="8214991">
                  <a:moveTo>
                    <a:pt x="0" y="0"/>
                  </a:moveTo>
                  <a:lnTo>
                    <a:pt x="8214991" y="0"/>
                  </a:lnTo>
                  <a:lnTo>
                    <a:pt x="8214991" y="1982990"/>
                  </a:lnTo>
                  <a:lnTo>
                    <a:pt x="0" y="1982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6043207"/>
              <a:ext cx="8214991" cy="880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Values Plotted:Axis, Value, etc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6645" y="8240185"/>
              <a:ext cx="8214991" cy="1982990"/>
            </a:xfrm>
            <a:custGeom>
              <a:avLst/>
              <a:gdLst/>
              <a:ahLst/>
              <a:cxnLst/>
              <a:rect r="r" b="b" t="t" l="l"/>
              <a:pathLst>
                <a:path h="1982990" w="8214991">
                  <a:moveTo>
                    <a:pt x="0" y="0"/>
                  </a:moveTo>
                  <a:lnTo>
                    <a:pt x="8214991" y="0"/>
                  </a:lnTo>
                  <a:lnTo>
                    <a:pt x="8214991" y="1982989"/>
                  </a:lnTo>
                  <a:lnTo>
                    <a:pt x="0" y="198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8775326"/>
              <a:ext cx="8214991" cy="880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Console Output Provides output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4085418" y="1802154"/>
              <a:ext cx="0" cy="93013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4136218" y="4577929"/>
              <a:ext cx="0" cy="93013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4136218" y="7310048"/>
              <a:ext cx="0" cy="93013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8145226" y="1596556"/>
            <a:ext cx="8735562" cy="3697288"/>
          </a:xfrm>
          <a:custGeom>
            <a:avLst/>
            <a:gdLst/>
            <a:ahLst/>
            <a:cxnLst/>
            <a:rect r="r" b="b" t="t" l="l"/>
            <a:pathLst>
              <a:path h="3697288" w="8735562">
                <a:moveTo>
                  <a:pt x="0" y="0"/>
                </a:moveTo>
                <a:lnTo>
                  <a:pt x="8735561" y="0"/>
                </a:lnTo>
                <a:lnTo>
                  <a:pt x="8735561" y="3697288"/>
                </a:lnTo>
                <a:lnTo>
                  <a:pt x="0" y="36972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45226" y="5472153"/>
            <a:ext cx="9071702" cy="4649247"/>
          </a:xfrm>
          <a:custGeom>
            <a:avLst/>
            <a:gdLst/>
            <a:ahLst/>
            <a:cxnLst/>
            <a:rect r="r" b="b" t="t" l="l"/>
            <a:pathLst>
              <a:path h="4649247" w="9071702">
                <a:moveTo>
                  <a:pt x="0" y="0"/>
                </a:moveTo>
                <a:lnTo>
                  <a:pt x="9071702" y="0"/>
                </a:lnTo>
                <a:lnTo>
                  <a:pt x="9071702" y="4649248"/>
                </a:lnTo>
                <a:lnTo>
                  <a:pt x="0" y="46492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104338" y="317969"/>
            <a:ext cx="10079325" cy="127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5"/>
              </a:lnSpc>
            </a:pPr>
            <a:r>
              <a:rPr lang="en-US" sz="7496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CODE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204665" y="7781960"/>
            <a:ext cx="1652305" cy="3357775"/>
          </a:xfrm>
          <a:custGeom>
            <a:avLst/>
            <a:gdLst/>
            <a:ahLst/>
            <a:cxnLst/>
            <a:rect r="r" b="b" t="t" l="l"/>
            <a:pathLst>
              <a:path h="3357775" w="1652305">
                <a:moveTo>
                  <a:pt x="1652305" y="3357775"/>
                </a:moveTo>
                <a:lnTo>
                  <a:pt x="0" y="3357775"/>
                </a:lnTo>
                <a:lnTo>
                  <a:pt x="0" y="0"/>
                </a:lnTo>
                <a:lnTo>
                  <a:pt x="1652305" y="0"/>
                </a:lnTo>
                <a:lnTo>
                  <a:pt x="1652305" y="33577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3626216" cy="3207690"/>
          </a:xfrm>
          <a:custGeom>
            <a:avLst/>
            <a:gdLst/>
            <a:ahLst/>
            <a:cxnLst/>
            <a:rect r="r" b="b" t="t" l="l"/>
            <a:pathLst>
              <a:path h="3207690" w="3626216">
                <a:moveTo>
                  <a:pt x="0" y="0"/>
                </a:moveTo>
                <a:lnTo>
                  <a:pt x="3626216" y="0"/>
                </a:lnTo>
                <a:lnTo>
                  <a:pt x="3626216" y="3207689"/>
                </a:lnTo>
                <a:lnTo>
                  <a:pt x="0" y="3207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230600" y="2327434"/>
            <a:ext cx="4383241" cy="3877342"/>
          </a:xfrm>
          <a:custGeom>
            <a:avLst/>
            <a:gdLst/>
            <a:ahLst/>
            <a:cxnLst/>
            <a:rect r="r" b="b" t="t" l="l"/>
            <a:pathLst>
              <a:path h="3877342" w="4383241">
                <a:moveTo>
                  <a:pt x="4383241" y="3877342"/>
                </a:moveTo>
                <a:lnTo>
                  <a:pt x="0" y="3877342"/>
                </a:lnTo>
                <a:lnTo>
                  <a:pt x="0" y="0"/>
                </a:lnTo>
                <a:lnTo>
                  <a:pt x="4383241" y="0"/>
                </a:lnTo>
                <a:lnTo>
                  <a:pt x="4383241" y="38773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38310" y="448464"/>
            <a:ext cx="941138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126" y="1985201"/>
            <a:ext cx="15284318" cy="696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19834" indent="-609917" lvl="1">
              <a:lnSpc>
                <a:spcPts val="7909"/>
              </a:lnSpc>
              <a:spcBef>
                <a:spcPct val="0"/>
              </a:spcBef>
              <a:buFont typeface="Arial"/>
              <a:buChar char="•"/>
            </a:pP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Pyth</a:t>
            </a: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on-based analysis streamlines structural computation.</a:t>
            </a:r>
          </a:p>
          <a:p>
            <a:pPr algn="just" marL="1219834" indent="-609917" lvl="1">
              <a:lnSpc>
                <a:spcPts val="7909"/>
              </a:lnSpc>
              <a:spcBef>
                <a:spcPct val="0"/>
              </a:spcBef>
              <a:buFont typeface="Arial"/>
              <a:buChar char="•"/>
            </a:pP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Accurate prediction and automated plotting aid engineering design.</a:t>
            </a:r>
          </a:p>
          <a:p>
            <a:pPr algn="just" marL="1219834" indent="-609917" lvl="1">
              <a:lnSpc>
                <a:spcPts val="7909"/>
              </a:lnSpc>
              <a:spcBef>
                <a:spcPct val="0"/>
              </a:spcBef>
              <a:buFont typeface="Arial"/>
              <a:buChar char="•"/>
            </a:pPr>
            <a:r>
              <a:rPr lang="en-US" sz="564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Foundation for advanced structural applications and simulation work</a:t>
            </a:r>
          </a:p>
          <a:p>
            <a:pPr algn="just">
              <a:lnSpc>
                <a:spcPts val="79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09394" y="3034507"/>
            <a:ext cx="13152766" cy="348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9"/>
              </a:lnSpc>
            </a:pPr>
            <a:r>
              <a:rPr lang="en-US" sz="20349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DAG4LJDT3PM</dc:identifier>
  <dcterms:modified xsi:type="dcterms:W3CDTF">2011-08-01T06:04:30Z</dcterms:modified>
  <cp:revision>1</cp:revision>
  <dc:title>Python PPT</dc:title>
</cp:coreProperties>
</file>